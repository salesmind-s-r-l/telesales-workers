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3" r:id="rId14"/>
    <p:sldId id="256" r:id="rId7"/>
    <p:sldId id="257" r:id="rId8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1.xml"/><Relationship Id="rId14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GIGLIOLI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CE1F0"/>
                </a:solidFill>
                <a:latin typeface="Calibri"/>
              </a:rPr>
              <a:t>Riattivazione pregresso + Acquisizione nuovi clienti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4BED2"/>
                </a:solidFill>
                <a:latin typeface="Calibri"/>
              </a:rPr>
              <a:t>Sintesi e piano operativo - call onboarding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029200"/>
            <a:ext cx="3017520" cy="45720"/>
          </a:xfrm>
          <a:prstGeom prst="rect">
            <a:avLst/>
          </a:prstGeom>
          <a:solidFill>
            <a:srgbClr val="C8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E1F0"/>
                </a:solidFill>
                <a:latin typeface="Calibri"/>
              </a:rPr>
              <a:t>Telesales - 4 giugno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Indice della presentazione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1F0"/>
                </a:solidFill>
                <a:latin typeface="Calibri"/>
              </a:rPr>
              <a:t>6 slide a partire dalla prossima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Slide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1887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Sintesi dati pre-meeting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0876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0555F"/>
                </a:solidFill>
                <a:latin typeface="Calibri"/>
              </a:rPr>
              <a:t>I 6 numeri chiave + cosa abbiamo capito dai 2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11247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Slide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1031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Come lavoriamo insieme: 2 macro aree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42316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0555F"/>
                </a:solidFill>
                <a:latin typeface="Calibri"/>
              </a:rPr>
              <a:t>Macro A (riattivazione pregresso) + Macro B (nuovi clienti)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11247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11247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Slide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9319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Insight settore (cosa abbiamo trovato)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25196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0555F"/>
                </a:solidFill>
                <a:latin typeface="Calibri"/>
              </a:rPr>
              <a:t>6 takeaway dalla ricerca: luxury polarizzato, Scandicci, decision maker, delocalizzazione, Lineapelle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1247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Slide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8463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40 prospect mappati - quick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16636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0555F"/>
                </a:solidFill>
                <a:latin typeface="Calibri"/>
              </a:rPr>
              <a:t>5 categorie di nuovi prospect: brand, pelletterie, terzisti TC, terzisti VE, emerging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Slide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607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5 domande non-ovvie per la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8076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0555F"/>
                </a:solidFill>
                <a:latin typeface="Calibri"/>
              </a:rPr>
              <a:t>Le domande dalla ricerca per qualificare lo scouting reale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83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969BA5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Giglioli - Sintesi dati pre-meeting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1F0"/>
                </a:solidFill>
                <a:latin typeface="Calibri"/>
              </a:rPr>
              <a:t>4 giugno 2026 - per call onboarding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874519" cy="128016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19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3864"/>
                </a:solidFill>
                <a:latin typeface="Calibri"/>
              </a:rPr>
              <a:t>904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39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55F"/>
                </a:solidFill>
                <a:latin typeface="Calibri"/>
              </a:rPr>
              <a:t>Clienti unici DB</a:t>
            </a:r>
          </a:p>
        </p:txBody>
      </p:sp>
      <p:sp>
        <p:nvSpPr>
          <p:cNvPr id="8" name="Rectangle 7"/>
          <p:cNvSpPr/>
          <p:nvPr/>
        </p:nvSpPr>
        <p:spPr>
          <a:xfrm>
            <a:off x="2404872" y="1051560"/>
            <a:ext cx="1874519" cy="128016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1188719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224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1920239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55F"/>
                </a:solidFill>
                <a:latin typeface="Calibri"/>
              </a:rPr>
              <a:t>Attivi 2024-2025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1051560"/>
            <a:ext cx="1874519" cy="128016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188719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62828"/>
                </a:solidFill>
                <a:latin typeface="Calibri"/>
              </a:rPr>
              <a:t>441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2544" y="1920239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55F"/>
                </a:solidFill>
                <a:latin typeface="Calibri"/>
              </a:rPr>
              <a:t>Campioni non evoluti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051560"/>
            <a:ext cx="1874519" cy="128016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1188719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7E22"/>
                </a:solidFill>
                <a:latin typeface="Calibri"/>
              </a:rPr>
              <a:t>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920239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55F"/>
                </a:solidFill>
                <a:latin typeface="Calibri"/>
              </a:rPr>
              <a:t>Sbilanciati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1051560"/>
            <a:ext cx="1874519" cy="128016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188719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62828"/>
                </a:solidFill>
                <a:latin typeface="Calibri"/>
              </a:rPr>
              <a:t>243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20239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55F"/>
                </a:solidFill>
                <a:latin typeface="Calibri"/>
              </a:rPr>
              <a:t>Lead caldi A/B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95559" y="1051560"/>
            <a:ext cx="1874519" cy="128016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59" y="1188719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06575"/>
                </a:solidFill>
                <a:latin typeface="Calibri"/>
              </a:rPr>
              <a:t>-44%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59" y="1920239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55F"/>
                </a:solidFill>
                <a:latin typeface="Calibri"/>
              </a:rPr>
              <a:t>Volumi 2025 vs 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06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Cosa abbiamo capito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23C"/>
                </a:solidFill>
                <a:latin typeface="Calibri"/>
              </a:rPr>
              <a:t>- 2 file = diari di produzione macchina-per-macchina (NON CRM). Periodo 2022 - 02/10/2025.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472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23C"/>
                </a:solidFill>
                <a:latin typeface="Calibri"/>
              </a:rPr>
              <a:t>- Nessun contatto telefonico/email/referente nei file. Solo nomi corti dei clienti.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313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23C"/>
                </a:solidFill>
                <a:latin typeface="Calibri"/>
              </a:rPr>
              <a:t>- Volumi in calo costante anno su anno (calo settore luxury 2024-2025 confermato).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2153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23C"/>
                </a:solidFill>
                <a:latin typeface="Calibri"/>
              </a:rPr>
              <a:t>- I clienti che usano entrambi i reparti sono pochi: c'è spazio per cross-sell ricamo-trapunta.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99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23C"/>
                </a:solidFill>
                <a:latin typeface="Calibri"/>
              </a:rPr>
              <a:t>- I "campioni mai entrati in produzione" sono il giacimento da scavare per riaprire conversazioni.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Continua: 2 macro aree di lavoro -&gt; slide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83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969BA5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Come lavoriamo insieme - 2 macro aree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1F0"/>
                </a:solidFill>
                <a:latin typeface="Calibri"/>
              </a:rPr>
              <a:t>Divisione netta: chi fa cosa, su chi, con che cadenza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66928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66928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15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MACRO A - Riattivazione pregresso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Setter Telesales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- 216 nominativi non-luxury (terzisti, marchi medi)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500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Script: recupero campione non evoluto + riapertura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426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Cadenza: 15-20 chiamate/giorno per setter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352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Owner: Karima / Rebecca / Barbara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Massimo Giglioli direttamente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- 27 nominativi luxury (Gucci, Ferragamo, Valentino...)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416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Strategia: dossier capsula nuova + meeting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34255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Cadenza: 2-3 chiamate/giorno dedicate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2686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Materiale: noi prepariamo capability deck + storico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005840"/>
            <a:ext cx="557784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005840"/>
            <a:ext cx="557784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1155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MACRO B - Acquisizione nuovi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Telesales fa lo screening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057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Step 1: ICP definito con Massimo (6 dimensioni)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3500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Step 2: sourcing settimanale Cribis + fashion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6426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Step 3: scoring fit + arricchimento DM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9352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Step 4: dossier 1-pager per prospect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383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Massimo chiama i nuovi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7490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Riceve 10 dossier/settimana qualificati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0416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Chiama 2-3 prospect/giorno (lui, non setter)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33425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Tutto tracciato live nel Master Sheet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6268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- Handoff sempre con materiale di supporto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Cadenza review: ogni venerdì 30 min - chiusura estiva 7 ago, ripartenza 25 ago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83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969BA5"/>
                </a:solidFill>
                <a:latin typeface="Calibri"/>
              </a:rPr>
              <a:t>4 /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29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KPI di successo MACRO 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3949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0555F"/>
                </a:solidFill>
                <a:latin typeface="Calibri"/>
              </a:rPr>
              <a:t>Da definire in call con Massimo - quali numeri vuole vedere a fine luglio per dire "ha funzionato" (vedi domanda K1 nel docx domande)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29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KPI di successo MACRO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3949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0555F"/>
                </a:solidFill>
                <a:latin typeface="Calibri"/>
              </a:rPr>
              <a:t>Da definire in call con Massimo - quali numeri vuole vedere a fine luglio per dire "ha funzionato" (vedi domanda K1 nel docx domande)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Insight settore (cosa abbiamo trovato)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1F0"/>
                </a:solidFill>
                <a:latin typeface="Calibri"/>
              </a:rPr>
              <a:t>Ricerca: stato luxury, distretto Toscana, decision maker, delocalizzazione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85216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37160" cy="1600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1615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Calibri"/>
              </a:rPr>
              <a:t>Mercato polarizzato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LVMH F&amp;L -8%, Kering -13%, ma Prada/Brunello/Hermes investono in filiera Italia.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051560"/>
            <a:ext cx="585216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051560"/>
            <a:ext cx="137160" cy="1600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21615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Calibri"/>
              </a:rPr>
              <a:t>Distretto Scandicci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Export -17,8% nel 2024, 4.000 in CIG, 190 aziende perse. Crisi reale ma snodo.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585216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137160" cy="1600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53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Decision maker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Sequenza vincente: Stile -&gt; Prodotto -&gt; Sourcing. Atelier Manager è il vero gatekeeper.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788920"/>
            <a:ext cx="585216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788920"/>
            <a:ext cx="137160" cy="1600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953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Delocalizzazione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3375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Albania/Romania solo fasce basse. Ricamo aghi 30 + trapunto pelle: nessuna competizione vera.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26279"/>
            <a:ext cx="585216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526279"/>
            <a:ext cx="137160" cy="1600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9087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Timeline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7491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Brand diretto 10-14 mesi -&gt; mix 70% terzisti + 30% brand.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526279"/>
            <a:ext cx="585216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526279"/>
            <a:ext cx="137160" cy="1600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69087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Lineapelle settembre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07491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23C"/>
                </a:solidFill>
                <a:latin typeface="Calibri"/>
              </a:rPr>
              <a:t>1.100 espositori. Ufficio Prodotto maison ci passano tutti. ROI massimo.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83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969BA5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40 prospect mappati - quick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1F0"/>
                </a:solidFill>
                <a:latin typeface="Calibri"/>
              </a:rPr>
              <a:t>Mix consigliato: 70% terzisti capo-commessa (quick win) + 30% brand diretti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960120"/>
          </a:xfrm>
          <a:prstGeom prst="rect">
            <a:avLst/>
          </a:prstGeom>
          <a:solidFill>
            <a:srgbClr val="FFF3E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A. Brand luxury diretti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23C"/>
                </a:solidFill>
                <a:latin typeface="Calibri"/>
              </a:rPr>
              <a:t>Brunello Cucinelli, Loro Piana, Marni, Tod's, Hogan, Etro, R. Cavalli, Aspesi, S. Ricci, Attolini, Kiton, Drumohr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Calibri"/>
              </a:rPr>
              <a:t>12 prospect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39"/>
            <a:ext cx="11430000" cy="960120"/>
          </a:xfrm>
          <a:prstGeom prst="rect">
            <a:avLst/>
          </a:prstGeom>
          <a:solidFill>
            <a:srgbClr val="FFE0B2"/>
          </a:solidFill>
          <a:ln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B. Pelletterie medio-piccole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23C"/>
                </a:solidFill>
                <a:latin typeface="Calibri"/>
              </a:rPr>
              <a:t>Piquadro, The Bridge, Furla, Coccinelle, Borbonese, Mandarina Duck, Pinko, Liu Jo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240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67E22"/>
                </a:solidFill>
                <a:latin typeface="Calibri"/>
              </a:rPr>
              <a:t>8 prospect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399"/>
            <a:ext cx="11430000" cy="960120"/>
          </a:xfrm>
          <a:prstGeom prst="rect">
            <a:avLst/>
          </a:prstGeom>
          <a:solidFill>
            <a:srgbClr val="C8E6C9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918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C. Terzisti Toscana - QUICK 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599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23C"/>
                </a:solidFill>
                <a:latin typeface="Calibri"/>
              </a:rPr>
              <a:t>Pelletterie del Chianti, Pell. 2A, Gruppo Florence, Holding Moda, Almax, Tivoli, Cuoiarte, Cesari, IFT, Pellemoda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32918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10 prospect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51959"/>
            <a:ext cx="11430000" cy="960120"/>
          </a:xfrm>
          <a:prstGeom prst="rect">
            <a:avLst/>
          </a:prstGeom>
          <a:solidFill>
            <a:srgbClr val="B2DFDB"/>
          </a:solidFill>
          <a:ln>
            <a:solidFill>
              <a:srgbClr val="007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433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96B"/>
                </a:solidFill>
                <a:latin typeface="Calibri"/>
              </a:rPr>
              <a:t>D. Terzisti Veneto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59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23C"/>
                </a:solidFill>
                <a:latin typeface="Calibri"/>
              </a:rPr>
              <a:t>M. Lendinarese, OL Group (LV), Riva 1920, Trussardi Manif., Conceria Bello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34339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796B"/>
                </a:solidFill>
                <a:latin typeface="Calibri"/>
              </a:rPr>
              <a:t>5 prospect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03519"/>
            <a:ext cx="11430000" cy="960120"/>
          </a:xfrm>
          <a:prstGeom prst="rect">
            <a:avLst/>
          </a:prstGeom>
          <a:solidFill>
            <a:srgbClr val="E1BEE7"/>
          </a:solidFill>
          <a:ln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949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1FA2"/>
                </a:solidFill>
                <a:latin typeface="Calibri"/>
              </a:rPr>
              <a:t>E. Brand emerging contemporary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19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23C"/>
                </a:solidFill>
                <a:latin typeface="Calibri"/>
              </a:rPr>
              <a:t>Coperni, By Far, Wandler, MSGM, Jacquemus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53949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7B1FA2"/>
                </a:solidFill>
                <a:latin typeface="Calibri"/>
              </a:rPr>
              <a:t>5 prospect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83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969BA5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 domande non-ovvie da fare in call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E1F0"/>
                </a:solidFill>
                <a:latin typeface="Calibri"/>
              </a:rPr>
              <a:t>Per qualificare lo scouting nuovi prospect (Macro B)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1. DNA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23C"/>
                </a:solidFill>
                <a:latin typeface="Calibri"/>
              </a:rPr>
              <a:t>Cosa sapete fare che un concorrente toscano fatica a replicare in 12 mesi?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E"/>
                </a:solidFill>
                <a:latin typeface="Calibri"/>
              </a:rPr>
              <a:t>Perché: Estrae unfair advantage -&gt; diventa gancio cold mail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39"/>
            <a:ext cx="114300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2. Soglie ordine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23C"/>
                </a:solidFill>
                <a:latin typeface="Calibri"/>
              </a:rPr>
              <a:t>Sotto quale soglia non vi conviene? Sopra quale soglia non avete capacity?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6207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E"/>
                </a:solidFill>
                <a:latin typeface="Calibri"/>
              </a:rPr>
              <a:t>Perché: Definisce fascia prospect target. No tempo perso.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114300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3. Brand sognato + fail tecnico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23C"/>
                </a:solidFill>
                <a:latin typeface="Calibri"/>
              </a:rPr>
              <a:t>Quale brand sognate? Quale brand vi ha bocciato e perché TECNICAMENTE?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593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E"/>
                </a:solidFill>
                <a:latin typeface="Calibri"/>
              </a:rPr>
              <a:t>Perché: Sogno = gap credenziali. Fail = limiti da chiudere prima.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43400"/>
            <a:ext cx="114300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4. Clienti amplificatori vs bunker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23C"/>
                </a:solidFill>
                <a:latin typeface="Calibri"/>
              </a:rPr>
              <a:t>Quali clienti vi presenterebbero a un loro brand? Quali vi percepiscono come minaccia?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566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E"/>
                </a:solidFill>
                <a:latin typeface="Calibri"/>
              </a:rPr>
              <a:t>Perché: Distingue leva referral da clienti-bunker.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40680"/>
            <a:ext cx="114300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8C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5. Claim tecnico verificabile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23C"/>
                </a:solidFill>
                <a:latin typeface="Calibri"/>
              </a:rPr>
              <a:t>Avete brevetti, tecniche proprietarie, sample-book esclusivi da usare in outreach?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5391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E"/>
                </a:solidFill>
                <a:latin typeface="Calibri"/>
              </a:rPr>
              <a:t>Perché: Senza claim -&gt; pitch su capacity+reattivita, non unicita.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83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969BA5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